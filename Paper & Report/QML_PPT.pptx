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 (%)</c:v>
                </c:pt>
              </c:strCache>
            </c:strRef>
          </c:tx>
          <c:spPr>
            <a:ln w="25400" cap="flat" cmpd="sng" algn="ctr">
              <a:solidFill>
                <a:srgbClr val="2E4E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4E8C"/>
              </a:solidFill>
              <a:ln w="9525" cap="flat" cmpd="sng" algn="ctr">
                <a:solidFill>
                  <a:srgbClr val="2E4E8C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dLbl>
              <c:idx val="36"/>
              <c:delete val="1"/>
            </c:dLbl>
            <c:dLbl>
              <c:idx val="37"/>
              <c:delete val="1"/>
            </c:dLbl>
            <c:dLbl>
              <c:idx val="38"/>
              <c:delete val="1"/>
            </c:dLbl>
            <c:dLbl>
              <c:idx val="3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Sheet1!$A$2:$A$41</c:f>
              <c:numCache>
                <c:formatCode>General</c:formatCod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numCache>
            </c:num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44</c:v>
                </c:pt>
                <c:pt idx="1">
                  <c:v>55</c:v>
                </c:pt>
                <c:pt idx="2">
                  <c:v>63</c:v>
                </c:pt>
                <c:pt idx="3">
                  <c:v>68</c:v>
                </c:pt>
                <c:pt idx="4">
                  <c:v>71</c:v>
                </c:pt>
                <c:pt idx="5">
                  <c:v>73</c:v>
                </c:pt>
                <c:pt idx="6">
                  <c:v>74</c:v>
                </c:pt>
                <c:pt idx="7">
                  <c:v>75</c:v>
                </c:pt>
                <c:pt idx="8">
                  <c:v>76</c:v>
                </c:pt>
                <c:pt idx="9">
                  <c:v>76</c:v>
                </c:pt>
                <c:pt idx="10">
                  <c:v>77</c:v>
                </c:pt>
                <c:pt idx="11">
                  <c:v>77</c:v>
                </c:pt>
                <c:pt idx="12">
                  <c:v>77.5</c:v>
                </c:pt>
                <c:pt idx="13">
                  <c:v>78</c:v>
                </c:pt>
                <c:pt idx="14">
                  <c:v>78</c:v>
                </c:pt>
                <c:pt idx="15">
                  <c:v>78.5</c:v>
                </c:pt>
                <c:pt idx="16">
                  <c:v>78.5</c:v>
                </c:pt>
                <c:pt idx="17">
                  <c:v>79</c:v>
                </c:pt>
                <c:pt idx="18">
                  <c:v>79</c:v>
                </c:pt>
                <c:pt idx="19">
                  <c:v>79</c:v>
                </c:pt>
                <c:pt idx="20">
                  <c:v>79.5</c:v>
                </c:pt>
                <c:pt idx="21">
                  <c:v>79.5</c:v>
                </c:pt>
                <c:pt idx="22">
                  <c:v>80</c:v>
                </c:pt>
                <c:pt idx="23">
                  <c:v>80</c:v>
                </c:pt>
                <c:pt idx="24">
                  <c:v>80</c:v>
                </c:pt>
                <c:pt idx="25">
                  <c:v>80</c:v>
                </c:pt>
                <c:pt idx="26">
                  <c:v>80.5</c:v>
                </c:pt>
                <c:pt idx="27">
                  <c:v>80.5</c:v>
                </c:pt>
                <c:pt idx="28">
                  <c:v>80.5</c:v>
                </c:pt>
                <c:pt idx="29">
                  <c:v>81</c:v>
                </c:pt>
                <c:pt idx="30">
                  <c:v>81</c:v>
                </c:pt>
                <c:pt idx="31">
                  <c:v>81</c:v>
                </c:pt>
                <c:pt idx="32">
                  <c:v>81</c:v>
                </c:pt>
                <c:pt idx="33">
                  <c:v>81</c:v>
                </c:pt>
                <c:pt idx="34">
                  <c:v>81</c:v>
                </c:pt>
                <c:pt idx="35">
                  <c:v>81.5</c:v>
                </c:pt>
                <c:pt idx="36">
                  <c:v>81.5</c:v>
                </c:pt>
                <c:pt idx="37">
                  <c:v>81.5</c:v>
                </c:pt>
                <c:pt idx="38">
                  <c:v>82</c:v>
                </c:pt>
                <c:pt idx="39">
                  <c:v>82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 (%)</c:v>
                </c:pt>
              </c:strCache>
            </c:strRef>
          </c:tx>
          <c:spPr>
            <a:ln w="25400" cap="flat" cmpd="sng" algn="ctr">
              <a:solidFill>
                <a:srgbClr val="C55A1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55A11"/>
              </a:solidFill>
              <a:ln w="9525" cap="flat" cmpd="sng" algn="ctr">
                <a:solidFill>
                  <a:srgbClr val="C55A11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dLbl>
              <c:idx val="36"/>
              <c:delete val="1"/>
            </c:dLbl>
            <c:dLbl>
              <c:idx val="37"/>
              <c:delete val="1"/>
            </c:dLbl>
            <c:dLbl>
              <c:idx val="38"/>
              <c:delete val="1"/>
            </c:dLbl>
            <c:dLbl>
              <c:idx val="3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Sheet1!$A$2:$A$41</c:f>
              <c:numCache>
                <c:formatCode>General</c:formatCod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numCache>
            </c:num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42</c:v>
                </c:pt>
                <c:pt idx="1">
                  <c:v>53</c:v>
                </c:pt>
                <c:pt idx="2">
                  <c:v>61</c:v>
                </c:pt>
                <c:pt idx="3">
                  <c:v>66</c:v>
                </c:pt>
                <c:pt idx="4">
                  <c:v>70</c:v>
                </c:pt>
                <c:pt idx="5">
                  <c:v>72</c:v>
                </c:pt>
                <c:pt idx="6">
                  <c:v>73</c:v>
                </c:pt>
                <c:pt idx="7">
                  <c:v>74</c:v>
                </c:pt>
                <c:pt idx="8">
                  <c:v>75</c:v>
                </c:pt>
                <c:pt idx="9">
                  <c:v>75</c:v>
                </c:pt>
                <c:pt idx="10">
                  <c:v>76</c:v>
                </c:pt>
                <c:pt idx="11">
                  <c:v>76</c:v>
                </c:pt>
                <c:pt idx="12">
                  <c:v>76.5</c:v>
                </c:pt>
                <c:pt idx="13">
                  <c:v>77</c:v>
                </c:pt>
                <c:pt idx="14">
                  <c:v>77</c:v>
                </c:pt>
                <c:pt idx="15">
                  <c:v>78</c:v>
                </c:pt>
                <c:pt idx="16">
                  <c:v>78</c:v>
                </c:pt>
                <c:pt idx="17">
                  <c:v>78.5</c:v>
                </c:pt>
                <c:pt idx="18">
                  <c:v>79</c:v>
                </c:pt>
                <c:pt idx="19">
                  <c:v>79</c:v>
                </c:pt>
                <c:pt idx="20">
                  <c:v>78.5</c:v>
                </c:pt>
                <c:pt idx="21">
                  <c:v>79</c:v>
                </c:pt>
                <c:pt idx="22">
                  <c:v>79</c:v>
                </c:pt>
                <c:pt idx="23">
                  <c:v>79</c:v>
                </c:pt>
                <c:pt idx="24">
                  <c:v>79.5</c:v>
                </c:pt>
                <c:pt idx="25">
                  <c:v>79</c:v>
                </c:pt>
                <c:pt idx="26">
                  <c:v>79.5</c:v>
                </c:pt>
                <c:pt idx="27">
                  <c:v>79.5</c:v>
                </c:pt>
                <c:pt idx="28">
                  <c:v>79</c:v>
                </c:pt>
                <c:pt idx="29">
                  <c:v>79</c:v>
                </c:pt>
                <c:pt idx="30">
                  <c:v>79.5</c:v>
                </c:pt>
                <c:pt idx="31">
                  <c:v>79.5</c:v>
                </c:pt>
                <c:pt idx="32">
                  <c:v>79</c:v>
                </c:pt>
                <c:pt idx="33">
                  <c:v>79.5</c:v>
                </c:pt>
                <c:pt idx="34">
                  <c:v>79.5</c:v>
                </c:pt>
                <c:pt idx="35">
                  <c:v>79</c:v>
                </c:pt>
                <c:pt idx="36">
                  <c:v>79</c:v>
                </c:pt>
                <c:pt idx="37">
                  <c:v>79</c:v>
                </c:pt>
                <c:pt idx="38">
                  <c:v>79</c:v>
                </c:pt>
                <c:pt idx="39">
                  <c:v>79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40"/>
        </c:scaling>
        <c:delete val="0"/>
        <c:axPos val="l"/>
        <c:majorGridlines>
          <c:spPr>
            <a:ln w="6350" cap="flat" cmpd="sng" algn="ctr">
              <a:solidFill>
                <a:srgbClr val="D9E1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2489076-265f-431e-9c99-fe97b069bea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E4E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Hybrid QNN (VQC)</c:v>
                </c:pt>
                <c:pt idx="1">
                  <c:v>Random Forest</c:v>
                </c:pt>
                <c:pt idx="2">
                  <c:v>SVM (RBF)</c:v>
                </c:pt>
                <c:pt idx="3">
                  <c:v>Gradient 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</c:v>
                </c:pt>
                <c:pt idx="1">
                  <c:v>92</c:v>
                </c:pt>
                <c:pt idx="2">
                  <c:v>81.78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 (%)</c:v>
                </c:pt>
              </c:strCache>
            </c:strRef>
          </c:tx>
          <c:spPr>
            <a:solidFill>
              <a:srgbClr val="8496A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5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Hybrid QNN (VQC)</c:v>
                </c:pt>
                <c:pt idx="1">
                  <c:v>Random Forest</c:v>
                </c:pt>
                <c:pt idx="2">
                  <c:v>SVM (RBF)</c:v>
                </c:pt>
                <c:pt idx="3">
                  <c:v>Gradient 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78.8</c:v>
                </c:pt>
                <c:pt idx="1">
                  <c:v>92</c:v>
                </c:pt>
                <c:pt idx="2">
                  <c:v>80.88</c:v>
                </c:pt>
                <c:pt idx="3">
                  <c:v>93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 cmpd="sng" algn="ctr">
              <a:solidFill>
                <a:srgbClr val="D9E1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ff18743-699f-4202-820e-fb3badde782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eMBB Precision (%)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Hybrid QNN (VQC)</c:v>
                </c:pt>
                <c:pt idx="1">
                  <c:v>Random Forest</c:v>
                </c:pt>
                <c:pt idx="2">
                  <c:v>SVM (RBF)</c:v>
                </c:pt>
                <c:pt idx="3">
                  <c:v>Gradient 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95</c:v>
                </c:pt>
                <c:pt idx="2">
                  <c:v>85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URLLC Precision (%)</c:v>
                </c:pt>
              </c:strCache>
            </c:strRef>
          </c:tx>
          <c:spPr>
            <a:solidFill>
              <a:srgbClr val="2E4E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Hybrid QNN (VQC)</c:v>
                </c:pt>
                <c:pt idx="1">
                  <c:v>Random Forest</c:v>
                </c:pt>
                <c:pt idx="2">
                  <c:v>SVM (RBF)</c:v>
                </c:pt>
                <c:pt idx="3">
                  <c:v>Gradient 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93.6</c:v>
                </c:pt>
                <c:pt idx="1">
                  <c:v>90</c:v>
                </c:pt>
                <c:pt idx="2">
                  <c:v>88</c:v>
                </c:pt>
                <c:pt idx="3">
                  <c:v>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mMTC Precision (%)</c:v>
                </c:pt>
              </c:strCache>
            </c:strRef>
          </c:tx>
          <c:spPr>
            <a:solidFill>
              <a:srgbClr val="8496A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Hybrid QNN (VQC)</c:v>
                </c:pt>
                <c:pt idx="1">
                  <c:v>Random Forest</c:v>
                </c:pt>
                <c:pt idx="2">
                  <c:v>SVM (RBF)</c:v>
                </c:pt>
                <c:pt idx="3">
                  <c:v>Gradient Boost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65</c:v>
                </c:pt>
                <c:pt idx="1">
                  <c:v>88</c:v>
                </c:pt>
                <c:pt idx="2">
                  <c:v>72</c:v>
                </c:pt>
                <c:pt idx="3">
                  <c:v>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 cmpd="sng" algn="ctr">
              <a:solidFill>
                <a:srgbClr val="D9E1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deab2ac-f0bf-43fb-bc0c-1375fa403f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eMBB   (AUC = 0.9765)</c:v>
                </c:pt>
              </c:strCache>
            </c:strRef>
          </c:tx>
          <c:spPr>
            <a:ln w="2540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0.994125</c:v>
                </c:pt>
                <c:pt idx="16">
                  <c:v>0.987488</c:v>
                </c:pt>
                <c:pt idx="17">
                  <c:v>0.984757</c:v>
                </c:pt>
                <c:pt idx="18">
                  <c:v>0.985932</c:v>
                </c:pt>
                <c:pt idx="19">
                  <c:v>0.991013</c:v>
                </c:pt>
                <c:pt idx="20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URLLC  (AUC = 0.9019)</c:v>
                </c:pt>
              </c:strCache>
            </c:strRef>
          </c:tx>
          <c:spPr>
            <a:ln w="25400" cap="flat" cmpd="sng" algn="ctr">
              <a:solidFill>
                <a:srgbClr val="2E4E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4E8C"/>
              </a:solidFill>
              <a:ln w="9525" cap="flat" cmpd="sng" algn="ctr">
                <a:solidFill>
                  <a:srgbClr val="2E4E8C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0.9909182</c:v>
                </c:pt>
                <c:pt idx="14">
                  <c:v>0.9813928</c:v>
                </c:pt>
                <c:pt idx="15">
                  <c:v>0.975475</c:v>
                </c:pt>
                <c:pt idx="16">
                  <c:v>0.9731648</c:v>
                </c:pt>
                <c:pt idx="17">
                  <c:v>0.9744622</c:v>
                </c:pt>
                <c:pt idx="18">
                  <c:v>0.9793672</c:v>
                </c:pt>
                <c:pt idx="19">
                  <c:v>0.9878798</c:v>
                </c:pt>
                <c:pt idx="20">
                  <c:v>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mMTC   (AUC = 0.9173)</c:v>
                </c:pt>
              </c:strCache>
            </c:strRef>
          </c:tx>
          <c:spPr>
            <a:ln w="25400" cap="flat" cmpd="sng" algn="ctr">
              <a:solidFill>
                <a:srgbClr val="8496A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496A9"/>
              </a:solidFill>
              <a:ln w="9525" cap="flat" cmpd="sng" algn="ctr">
                <a:solidFill>
                  <a:srgbClr val="8496A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0.9967394</c:v>
                </c:pt>
                <c:pt idx="14">
                  <c:v>0.9861976</c:v>
                </c:pt>
                <c:pt idx="15">
                  <c:v>0.979325</c:v>
                </c:pt>
                <c:pt idx="16">
                  <c:v>0.9761216</c:v>
                </c:pt>
                <c:pt idx="17">
                  <c:v>0.9765874</c:v>
                </c:pt>
                <c:pt idx="18">
                  <c:v>0.9807224</c:v>
                </c:pt>
                <c:pt idx="19">
                  <c:v>0.9885266</c:v>
                </c:pt>
                <c:pt idx="20">
                  <c:v>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Random Classifier (AUC = 0.5)</c:v>
                </c:pt>
              </c:strCache>
            </c:strRef>
          </c:tx>
          <c:spPr>
            <a:ln w="25400" cap="flat" cmpd="sng" algn="ctr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 cmpd="sng" algn="ctr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 cmpd="sng" algn="ctr">
              <a:solidFill>
                <a:srgbClr val="D9E1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95959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71a9d34-392f-4252-9e6d-a7deb15d0d8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01168" cy="2194560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384048" y="182880"/>
            <a:ext cx="85039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QML-Based Traffic Management in 6G Networks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" y="1325880"/>
            <a:ext cx="822960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ABBD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Hybrid Variational Quantum Circuit Classifier for 6G Network Slice Classification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2194560"/>
            <a:ext cx="9144000" cy="2944368"/>
          </a:xfrm>
          <a:prstGeom prst="rect">
            <a:avLst/>
          </a:prstGeom>
          <a:solidFill>
            <a:srgbClr val="F5F7FA"/>
          </a:solidFill>
        </p:spPr>
      </p:sp>
      <p:sp>
        <p:nvSpPr>
          <p:cNvPr id="7" name="Shape 5"/>
          <p:cNvSpPr/>
          <p:nvPr/>
        </p:nvSpPr>
        <p:spPr>
          <a:xfrm>
            <a:off x="0" y="2194560"/>
            <a:ext cx="201168" cy="2944368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8" name="Text 6"/>
          <p:cNvSpPr/>
          <p:nvPr/>
        </p:nvSpPr>
        <p:spPr>
          <a:xfrm>
            <a:off x="475488" y="2340864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4E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265176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Anish Kundu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651760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22052797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072384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Subhajit Chakraborty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072384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22052249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493008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Anishesh Mitra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493008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22052884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2340864"/>
            <a:ext cx="0" cy="2377440"/>
          </a:xfrm>
          <a:prstGeom prst="line">
            <a:avLst/>
          </a:prstGeom>
          <a:noFill/>
          <a:ln w="10160">
            <a:solidFill>
              <a:srgbClr val="D9E1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340864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4E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Guidance of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2651760"/>
            <a:ext cx="35661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Dr. Anjan Bandyopadhyay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03520" y="3127248"/>
            <a:ext cx="3383280" cy="0"/>
          </a:xfrm>
          <a:prstGeom prst="line">
            <a:avLst/>
          </a:prstGeom>
          <a:noFill/>
          <a:ln w="6350">
            <a:solidFill>
              <a:srgbClr val="D9E1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236976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School of Computer Engineering</a:t>
            </a:r>
            <a:endParaRPr lang="en-US" sz="14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03520" y="3493008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Kalinga Institute of Industrial Technology</a:t>
            </a:r>
            <a:endParaRPr lang="en-US" sz="14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03520" y="3858768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23" name="Text 21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6A9"/>
                </a:solidFill>
              </a:rPr>
              <a:t>School of Computer Engineering  |  Kalinga Institute of Industrial Technology  |  April 2026</a:t>
            </a:r>
            <a:endParaRPr lang="en-US" sz="750" dirty="0"/>
          </a:p>
        </p:txBody>
      </p:sp>
      <p:pic>
        <p:nvPicPr>
          <p:cNvPr id="25" name="Picture 24"/>
          <p:cNvPicPr/>
          <p:nvPr/>
        </p:nvPicPr>
        <p:blipFill>
          <a:blip r:embed="rId1"/>
          <a:stretch>
            <a:fillRect/>
          </a:stretch>
        </p:blipFill>
        <p:spPr>
          <a:xfrm>
            <a:off x="7190105" y="203200"/>
            <a:ext cx="1826895" cy="17811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6G Traffic Classification Matters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2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8503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6G networks must classify traffic flows in real time and assign each to the appropriate network slice. The three primary slice types differ fundamentally in their requirements: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269748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89888"/>
            <a:ext cx="2697480" cy="502920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11" name="Text 9"/>
          <p:cNvSpPr/>
          <p:nvPr/>
        </p:nvSpPr>
        <p:spPr>
          <a:xfrm>
            <a:off x="448056" y="1389888"/>
            <a:ext cx="24414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eMBB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" y="1664208"/>
            <a:ext cx="2441448" cy="2194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5D5E8"/>
                </a:solidFill>
              </a:rPr>
              <a:t>Enhanced Mobile Broadband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6344" y="1993392"/>
            <a:ext cx="2404872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Netflix streaming 4K video requires 25 Mbps sustained bandwidth. Moderate latency tolerance. Representative of high-throughput consumer applications.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72968" y="1389888"/>
            <a:ext cx="269748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389888"/>
            <a:ext cx="2697480" cy="502920"/>
          </a:xfrm>
          <a:prstGeom prst="rect">
            <a:avLst/>
          </a:prstGeom>
          <a:solidFill>
            <a:srgbClr val="17375E"/>
          </a:solidFill>
        </p:spPr>
      </p:sp>
      <p:sp>
        <p:nvSpPr>
          <p:cNvPr id="16" name="Text 14"/>
          <p:cNvSpPr/>
          <p:nvPr/>
        </p:nvSpPr>
        <p:spPr>
          <a:xfrm>
            <a:off x="3300984" y="1389888"/>
            <a:ext cx="24414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URLLC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00984" y="1664208"/>
            <a:ext cx="2441448" cy="2194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5D5E8"/>
                </a:solidFill>
              </a:rPr>
              <a:t>Ultra-Reliable Low Latency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19272" y="1993392"/>
            <a:ext cx="2404872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robotic surgery with &lt;1 ms latency requirement. Reliability must reach 99.9999%. Any misclassification has direct safety implications.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25896" y="1389888"/>
            <a:ext cx="269748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389888"/>
            <a:ext cx="2697480" cy="50292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21" name="Text 19"/>
          <p:cNvSpPr/>
          <p:nvPr/>
        </p:nvSpPr>
        <p:spPr>
          <a:xfrm>
            <a:off x="6153912" y="1389888"/>
            <a:ext cx="24414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mMTC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53912" y="1664208"/>
            <a:ext cx="2441448" cy="2194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5D5E8"/>
                </a:solidFill>
              </a:rPr>
              <a:t>Massive Machine-Type Comms.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72200" y="1993392"/>
            <a:ext cx="2404872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50,000 smart meters transmitting 200 bytes every 10 minutes. Extremely low throughput but enormous device density at city scale.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828032"/>
            <a:ext cx="8503920" cy="109728"/>
          </a:xfrm>
          <a:prstGeom prst="rect">
            <a:avLst/>
          </a:prstGeom>
          <a:solidFill>
            <a:srgbClr val="4472C4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Motivation for Quantum Machine Learning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3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023360" cy="3950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4023360" cy="384048"/>
          </a:xfrm>
          <a:prstGeom prst="rect">
            <a:avLst/>
          </a:prstGeom>
          <a:solidFill>
            <a:srgbClr val="595959"/>
          </a:solidFill>
        </p:spPr>
      </p:sp>
      <p:sp>
        <p:nvSpPr>
          <p:cNvPr id="10" name="Text 8"/>
          <p:cNvSpPr/>
          <p:nvPr/>
        </p:nvSpPr>
        <p:spPr>
          <a:xfrm>
            <a:off x="457200" y="82296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Classical ML — 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374904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Computational scaling is polynomial (O(n²)) with model dimensionality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exploit inherent quantum noise properties of 6G mmWave channels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with 200 trees requires thousands of parameters for 64-dimensional feature representation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Classical neural networks struggle with high-dimensional manifolds in limited-sample regimes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4434840"/>
            <a:ext cx="1188720" cy="292608"/>
          </a:xfrm>
          <a:prstGeom prst="rect">
            <a:avLst/>
          </a:prstGeom>
          <a:solidFill>
            <a:srgbClr val="D9E1EB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43484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9595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O(n²)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822960"/>
            <a:ext cx="4023360" cy="39502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822960"/>
            <a:ext cx="4023360" cy="384048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16" name="Text 14"/>
          <p:cNvSpPr/>
          <p:nvPr/>
        </p:nvSpPr>
        <p:spPr>
          <a:xfrm>
            <a:off x="4937760" y="82296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Quantum ML — Advantages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298448"/>
            <a:ext cx="374904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qubits encode a 64-dimensional Hilbert space (2⁶ = 64)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qubits encode 256 dimensions — exponential scaling from linear qubit increase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Parameter-shift rule enables exact gradients compatible with real quantum hardware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trained in simulation can be deployed on IBM Quantum without code modifications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4434840"/>
            <a:ext cx="1188720" cy="292608"/>
          </a:xfrm>
          <a:prstGeom prst="rect">
            <a:avLst/>
          </a:prstGeom>
          <a:solidFill>
            <a:srgbClr val="D6E4F7"/>
          </a:solidFill>
          <a:ln w="6350">
            <a:solidFill>
              <a:srgbClr val="2E4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443484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4E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O(2ⁿ)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— Kim and Choi 5G Traffic Dataset (2023)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4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938528" cy="960120"/>
          </a:xfrm>
          <a:prstGeom prst="rect">
            <a:avLst/>
          </a:prstGeom>
          <a:solidFill>
            <a:srgbClr val="1F3864"/>
          </a:solidFill>
          <a:ln w="6350">
            <a:solidFill>
              <a:srgbClr val="2E4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1938528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328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19385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BBD0"/>
                </a:solidFill>
              </a:rPr>
              <a:t>Hours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554480"/>
            <a:ext cx="19385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496A9"/>
                </a:solidFill>
              </a:rPr>
              <a:t>Total recording duration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50592" y="804672"/>
            <a:ext cx="1938528" cy="960120"/>
          </a:xfrm>
          <a:prstGeom prst="rect">
            <a:avLst/>
          </a:prstGeom>
          <a:solidFill>
            <a:srgbClr val="1F3864"/>
          </a:solidFill>
          <a:ln w="6350">
            <a:solidFill>
              <a:srgbClr val="2E4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822960"/>
            <a:ext cx="1938528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50592" y="1280160"/>
            <a:ext cx="19385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BBD0"/>
                </a:solidFill>
              </a:rPr>
              <a:t>CSV Files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50592" y="1554480"/>
            <a:ext cx="19385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496A9"/>
                </a:solidFill>
              </a:rPr>
              <a:t>Wireshark packet exports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81144" y="804672"/>
            <a:ext cx="1938528" cy="960120"/>
          </a:xfrm>
          <a:prstGeom prst="rect">
            <a:avLst/>
          </a:prstGeom>
          <a:solidFill>
            <a:srgbClr val="1F3864"/>
          </a:solidFill>
          <a:ln w="6350">
            <a:solidFill>
              <a:srgbClr val="2E4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822960"/>
            <a:ext cx="1938528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81144" y="1280160"/>
            <a:ext cx="19385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BBD0"/>
                </a:solidFill>
              </a:rPr>
              <a:t>Applications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81144" y="1554480"/>
            <a:ext cx="19385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496A9"/>
                </a:solidFill>
              </a:rPr>
              <a:t>Across three slice types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11696" y="804672"/>
            <a:ext cx="1938528" cy="960120"/>
          </a:xfrm>
          <a:prstGeom prst="rect">
            <a:avLst/>
          </a:prstGeom>
          <a:solidFill>
            <a:srgbClr val="1F3864"/>
          </a:solidFill>
          <a:ln w="6350">
            <a:solidFill>
              <a:srgbClr val="2E4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1696" y="822960"/>
            <a:ext cx="1938528" cy="4572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11696" y="1280160"/>
            <a:ext cx="193852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ABBD0"/>
                </a:solidFill>
              </a:rPr>
              <a:t>SK Telecom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11696" y="1554480"/>
            <a:ext cx="193852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496A9"/>
                </a:solidFill>
              </a:rPr>
              <a:t>Production 5G network</a:t>
            </a:r>
            <a:endParaRPr lang="en-US" sz="7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320040" y="1874520"/>
          <a:ext cx="8503920" cy="283464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3657600"/>
                <a:gridCol w="310896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Network Slice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Label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Applications Included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Traffic Characteristics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eMBB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Netflix, Amazon Prime, YouTube, Zoom, MS Teams, Google Meet, AfreecaTV, Naver NOW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throughput, large packets, asymmetric DL/UL ratio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URLLC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GeForce Now, KT GameBox, PUBG Battleground, Teamfight Tactics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inter-arrival time, tight jitter, symmetric DL/UL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mMTC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Zepeto, Roblox (metaverse idle)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low throughput, sparse bursty packets, small packet size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320040" y="4773168"/>
            <a:ext cx="8503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496A9"/>
                </a:solidFill>
              </a:rPr>
              <a:t>Source: kaggle.com/datasets/kimdaegyeom/5g-traffic-datasets  |  Device: Samsung Galaxy A90 5G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Engineering — 8-Feature 1-Second Window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5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828800" cy="658368"/>
          </a:xfrm>
          <a:prstGeom prst="rect">
            <a:avLst/>
          </a:prstGeom>
          <a:solidFill>
            <a:srgbClr val="595959"/>
          </a:solidFill>
          <a:ln w="6350">
            <a:solidFill>
              <a:srgbClr val="D9E1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04672"/>
            <a:ext cx="1828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Packet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(CSV)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1133856"/>
            <a:ext cx="338328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804672"/>
            <a:ext cx="1828800" cy="658368"/>
          </a:xfrm>
          <a:prstGeom prst="rect">
            <a:avLst/>
          </a:prstGeom>
          <a:solidFill>
            <a:srgbClr val="2E4E8C"/>
          </a:solidFill>
          <a:ln w="6350">
            <a:solidFill>
              <a:srgbClr val="D9E1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804672"/>
            <a:ext cx="1828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1-Second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Sliding Window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1133856"/>
            <a:ext cx="338328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54296" y="804672"/>
            <a:ext cx="1828800" cy="658368"/>
          </a:xfrm>
          <a:prstGeom prst="rect">
            <a:avLst/>
          </a:prstGeom>
          <a:solidFill>
            <a:srgbClr val="2E4E8C"/>
          </a:solidFill>
          <a:ln w="6350">
            <a:solidFill>
              <a:srgbClr val="D9E1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804672"/>
            <a:ext cx="1828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83096" y="1133856"/>
            <a:ext cx="338328" cy="0"/>
          </a:xfrm>
          <a:prstGeom prst="line">
            <a:avLst/>
          </a:prstGeom>
          <a:noFill/>
          <a:ln w="15240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21424" y="804672"/>
            <a:ext cx="1828800" cy="658368"/>
          </a:xfrm>
          <a:prstGeom prst="rect">
            <a:avLst/>
          </a:prstGeom>
          <a:solidFill>
            <a:srgbClr val="1F3864"/>
          </a:solidFill>
          <a:ln w="6350">
            <a:solidFill>
              <a:srgbClr val="D9E1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21424" y="804672"/>
            <a:ext cx="18288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8-Feature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320040" y="1572768"/>
          <a:ext cx="850392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201168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 Name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4E8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throughput_kbps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bytes × 8 ÷ 1000 within the window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8496A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Bandwidth utilisation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4E8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avg_pkt_size_bytes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 packet length across all packets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8496A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Flow type indicator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4E8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inter_arrival_mean_us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 gap between consecutive packet arrivals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8496A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Latency proxy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4E8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inter_arrival_std_us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 deviation of inter-arrival gaps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8496A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Jitter proxy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4E8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flow_pkt_count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Total packets received within the 1-second window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8496A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Volume indicator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4E8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dl_ul_ratio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Downlink bytes ÷ uplink bytes (device has 10.x.x.x IP)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8496A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Asymmetry indicator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4E8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bitrate_mean_kbps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5-window rolling mean of throughput_kbps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8496A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Trend smoothing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4E8C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bitrate_std_kbps</a:t>
                      </a:r>
                      <a:endParaRPr lang="en-US" sz="10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5-window rolling standard deviation of throughput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8496A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Variability measure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Model Architecture — Hybrid Quantum-Classical Network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6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9202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04672"/>
            <a:ext cx="1920240" cy="512064"/>
          </a:xfrm>
          <a:prstGeom prst="rect">
            <a:avLst/>
          </a:prstGeom>
          <a:solidFill>
            <a:srgbClr val="595959"/>
          </a:solidFill>
        </p:spPr>
      </p:sp>
      <p:sp>
        <p:nvSpPr>
          <p:cNvPr id="10" name="Text 8"/>
          <p:cNvSpPr/>
          <p:nvPr/>
        </p:nvSpPr>
        <p:spPr>
          <a:xfrm>
            <a:off x="393192" y="804672"/>
            <a:ext cx="17739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Pre-Processing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426464"/>
            <a:ext cx="17007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(8 → 6)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1828800"/>
            <a:ext cx="170078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938528"/>
            <a:ext cx="17007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Tanh Activation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2340864"/>
            <a:ext cx="170078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450592"/>
            <a:ext cx="17007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Normalisation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40280" y="2788920"/>
            <a:ext cx="256032" cy="0"/>
          </a:xfrm>
          <a:prstGeom prst="line">
            <a:avLst/>
          </a:prstGeom>
          <a:noFill/>
          <a:ln w="19050">
            <a:solidFill>
              <a:srgbClr val="2E4E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6312" y="804672"/>
            <a:ext cx="23774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804672"/>
            <a:ext cx="2377440" cy="512064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19" name="Text 17"/>
          <p:cNvSpPr/>
          <p:nvPr/>
        </p:nvSpPr>
        <p:spPr>
          <a:xfrm>
            <a:off x="2569464" y="804672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Variational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Quantum Circuit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1426464"/>
            <a:ext cx="21579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AngleEmbedding (Ry gates, 6 qubits)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06040" y="1828800"/>
            <a:ext cx="215798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1938528"/>
            <a:ext cx="21579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StronglyEntanglingLayers × 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06040" y="2340864"/>
            <a:ext cx="215798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450592"/>
            <a:ext cx="21579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PauliZ Measurement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06040" y="2852928"/>
            <a:ext cx="215798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962656"/>
            <a:ext cx="21579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Output: 6 values ∈ [−1, +1]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06040" y="3364992"/>
            <a:ext cx="215798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474720"/>
            <a:ext cx="21579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space: 2⁶ = 64 dimensions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73752" y="2788920"/>
            <a:ext cx="256032" cy="0"/>
          </a:xfrm>
          <a:prstGeom prst="line">
            <a:avLst/>
          </a:prstGeom>
          <a:noFill/>
          <a:ln w="19050">
            <a:solidFill>
              <a:srgbClr val="2E4E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9784" y="804672"/>
            <a:ext cx="19202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29784" y="804672"/>
            <a:ext cx="1920240" cy="512064"/>
          </a:xfrm>
          <a:prstGeom prst="rect">
            <a:avLst/>
          </a:prstGeom>
          <a:solidFill>
            <a:srgbClr val="595959"/>
          </a:solidFill>
        </p:spPr>
      </p:sp>
      <p:sp>
        <p:nvSpPr>
          <p:cNvPr id="32" name="Text 30"/>
          <p:cNvSpPr/>
          <p:nvPr/>
        </p:nvSpPr>
        <p:spPr>
          <a:xfrm>
            <a:off x="5202936" y="804672"/>
            <a:ext cx="17739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Post-Processing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9512" y="1426464"/>
            <a:ext cx="17007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(6 → 64) + ReLU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239512" y="1828800"/>
            <a:ext cx="170078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9512" y="1938528"/>
            <a:ext cx="17007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Dropout (30%)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239512" y="2340864"/>
            <a:ext cx="170078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9512" y="2450592"/>
            <a:ext cx="17007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(64 → 32) + ReLU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239512" y="2852928"/>
            <a:ext cx="170078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9512" y="2962656"/>
            <a:ext cx="170078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(32 → 3)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050024" y="2788920"/>
            <a:ext cx="256032" cy="0"/>
          </a:xfrm>
          <a:prstGeom prst="line">
            <a:avLst/>
          </a:prstGeom>
          <a:noFill/>
          <a:ln w="19050">
            <a:solidFill>
              <a:srgbClr val="2E4E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06056" y="804672"/>
            <a:ext cx="16459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06056" y="804672"/>
            <a:ext cx="1645920" cy="512064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3" name="Text 41"/>
          <p:cNvSpPr/>
          <p:nvPr/>
        </p:nvSpPr>
        <p:spPr>
          <a:xfrm>
            <a:off x="7379208" y="804672"/>
            <a:ext cx="149961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15784" y="1426464"/>
            <a:ext cx="142646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eMBB (Label 0)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15784" y="1828800"/>
            <a:ext cx="142646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15784" y="1938528"/>
            <a:ext cx="142646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URLLC (Label 1)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15784" y="2340864"/>
            <a:ext cx="1426464" cy="0"/>
          </a:xfrm>
          <a:prstGeom prst="line">
            <a:avLst/>
          </a:prstGeom>
          <a:noFill/>
          <a:ln w="3810">
            <a:solidFill>
              <a:srgbClr val="D9E1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15784" y="2450592"/>
            <a:ext cx="142646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mMTC (Label 2)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0040" y="4773168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496A9"/>
                </a:solidFill>
              </a:rPr>
              <a:t>Input: 8 features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solidFill>
            <a:srgbClr val="D6E4F7"/>
          </a:solidFill>
        </p:spPr>
      </p:sp>
      <p:sp>
        <p:nvSpPr>
          <p:cNvPr id="51" name="Text 49"/>
          <p:cNvSpPr/>
          <p:nvPr/>
        </p:nvSpPr>
        <p:spPr>
          <a:xfrm>
            <a:off x="411480" y="4800600"/>
            <a:ext cx="8321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4E8C"/>
                </a:solidFill>
              </a:rPr>
              <a:t>Loss Function: Weighted Cross-Entropy  [eMBB: 1.0 | URLLC: 2.5 | mMTC: 1.0]  — URLLC class up-weighted to reflect its critical safety requirements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Gradient Computation — Parameter-Shift Rule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7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circuits cannot be differentiated using conventional backpropagation. The parameter-shift rule provides an exact, hardware-compatible alternative: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1389888"/>
            <a:ext cx="4572000" cy="804672"/>
          </a:xfrm>
          <a:prstGeom prst="rect">
            <a:avLst/>
          </a:prstGeom>
          <a:solidFill>
            <a:srgbClr val="D6E4F7"/>
          </a:solidFill>
          <a:ln w="12700">
            <a:solidFill>
              <a:srgbClr val="2E4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389888"/>
            <a:ext cx="457200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∂f / ∂θ  =  ½ · [ f(θ + π/2)  −  f(θ − π/2) 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3931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31720"/>
            <a:ext cx="91440" cy="1115568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13" name="Text 11"/>
          <p:cNvSpPr/>
          <p:nvPr/>
        </p:nvSpPr>
        <p:spPr>
          <a:xfrm>
            <a:off x="502920" y="2404872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60904"/>
            <a:ext cx="3566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Backpropagation requires a continuous, differentiable computational graph. Quantum gate operations do not support this — attempting standard autodiff on a quantum circuit produces incorrect or undefined results.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566160"/>
            <a:ext cx="3931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566160"/>
            <a:ext cx="91440" cy="1115568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17" name="Text 15"/>
          <p:cNvSpPr/>
          <p:nvPr/>
        </p:nvSpPr>
        <p:spPr>
          <a:xfrm>
            <a:off x="502920" y="3639312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895344"/>
            <a:ext cx="3566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gradient-based optimiser (Adam, SGD) requires accurate gradients. Without a valid gradient computation method, the model cannot be trained on quantum hardware.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2331720"/>
            <a:ext cx="3931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331720"/>
            <a:ext cx="91440" cy="1115568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21" name="Text 19"/>
          <p:cNvSpPr/>
          <p:nvPr/>
        </p:nvSpPr>
        <p:spPr>
          <a:xfrm>
            <a:off x="5074920" y="2404872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660904"/>
            <a:ext cx="3566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 the circuit twice with the target parameter shifted by ±π/2. The gradient is exactly half the difference between the two output values. No approximation is involved.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3566160"/>
            <a:ext cx="3931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566160"/>
            <a:ext cx="91440" cy="1115568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25" name="Text 23"/>
          <p:cNvSpPr/>
          <p:nvPr/>
        </p:nvSpPr>
        <p:spPr>
          <a:xfrm>
            <a:off x="5074920" y="3639312"/>
            <a:ext cx="3566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Hardware 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895344"/>
            <a:ext cx="3566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this rule only requires two forward circuit evaluations, it works identically on simulators and real QPUs. The trained model deploys on IBM Quantum with no code changes.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Training Results — Convergence Over 40 Epochs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8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was trained on real 5G packet data using the Adam optimiser with the parameter-shift gradient rule. Training and validation accuracy curves are shown below: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353312"/>
          <a:ext cx="85039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4718304"/>
            <a:ext cx="8503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496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Rapid initial convergence in epochs 1–5 (45% → 70%)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20040" y="4718304"/>
            <a:ext cx="8503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496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Best validation accuracy at epoch 14; stable thereafter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040" y="4718304"/>
            <a:ext cx="8503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496A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Train and validation curves remain close — no overfitting observed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Classification Performance — Comparison Across Models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9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804672"/>
          <a:ext cx="5349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852160" y="822960"/>
          <a:ext cx="3291840" cy="242316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640080"/>
                <a:gridCol w="548640"/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Macro F1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Hybrid QNN (VQC)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79.0%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78.8%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0.935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92.0%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92.0%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 (RBF)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81.8%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80.9%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Gradient Boost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93.0%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93.0%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—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3383280"/>
            <a:ext cx="297180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852160" y="3383280"/>
            <a:ext cx="91440" cy="914400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12" name="Text 8"/>
          <p:cNvSpPr/>
          <p:nvPr/>
        </p:nvSpPr>
        <p:spPr>
          <a:xfrm>
            <a:off x="6035040" y="3438144"/>
            <a:ext cx="2697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Note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035040" y="3648456"/>
            <a:ext cx="26974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gap relative to RF and GB results from classical simulation overhead, not an inherent QML limitation. AUC of 0.935 demonstrates strong discriminative capability.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20040" y="4407408"/>
            <a:ext cx="5349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4E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URLLC Precision = 93.6% — highest of all models for that class, confirming slice assignment reliability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Per-Class Classification Analysis — Confusion Matrix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10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8503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Normalised confusion matrix (% of true class) on the 225-sample test set: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320040" y="1188720"/>
          <a:ext cx="5166360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1234440"/>
                <a:gridCol w="1234440"/>
                <a:gridCol w="123444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Actual \ Predicted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Predicted eMBB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Predicted URLLC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Predicted mMTC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Actual eMBB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Actual URLLC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Actual mMTC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33C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62%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0" y="1188720"/>
            <a:ext cx="3154680" cy="914400"/>
          </a:xfrm>
          <a:prstGeom prst="rect">
            <a:avLst/>
          </a:prstGeom>
          <a:solidFill>
            <a:srgbClr val="D6E4F7"/>
          </a:solidFill>
          <a:ln w="6350">
            <a:solidFill>
              <a:srgbClr val="D9E1EB"/>
            </a:solidFill>
            <a:prstDash val="solid"/>
          </a:ln>
        </p:spPr>
      </p:sp>
      <p:sp>
        <p:nvSpPr>
          <p:cNvPr id="9" name="Shape 8"/>
          <p:cNvSpPr/>
          <p:nvPr/>
        </p:nvSpPr>
        <p:spPr>
          <a:xfrm>
            <a:off x="5669280" y="1188720"/>
            <a:ext cx="91440" cy="914400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12" name="Text 9"/>
          <p:cNvSpPr/>
          <p:nvPr/>
        </p:nvSpPr>
        <p:spPr>
          <a:xfrm>
            <a:off x="5833872" y="1243584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E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eMBB (91% Recall)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33872" y="1499616"/>
            <a:ext cx="2926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 traffic exhibits a clear high-throughput, large-packet signature that separates well in feature space.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2194560"/>
            <a:ext cx="3154680" cy="914400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2194560"/>
            <a:ext cx="91440" cy="914400"/>
          </a:xfrm>
          <a:prstGeom prst="rect">
            <a:avLst/>
          </a:prstGeom>
          <a:solidFill>
            <a:srgbClr val="17375E"/>
          </a:solidFill>
        </p:spPr>
      </p:sp>
      <p:sp>
        <p:nvSpPr>
          <p:cNvPr id="16" name="Text 13"/>
          <p:cNvSpPr/>
          <p:nvPr/>
        </p:nvSpPr>
        <p:spPr>
          <a:xfrm>
            <a:off x="5833872" y="2249424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75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URLLC (84% Recall)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33872" y="2505456"/>
            <a:ext cx="2926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Gaming traffic shares characteristics with video streaming at 1-second resolution — a real-world challenge absent from synthetic datasets.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3200400"/>
            <a:ext cx="3154680" cy="914400"/>
          </a:xfrm>
          <a:prstGeom prst="rect">
            <a:avLst/>
          </a:prstGeom>
          <a:solidFill>
            <a:srgbClr val="FFF8E0"/>
          </a:solidFill>
          <a:ln w="6350">
            <a:solidFill>
              <a:srgbClr val="D9E1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69280" y="3200400"/>
            <a:ext cx="91440" cy="914400"/>
          </a:xfrm>
          <a:prstGeom prst="rect">
            <a:avLst/>
          </a:prstGeom>
          <a:solidFill>
            <a:srgbClr val="833C00"/>
          </a:solidFill>
        </p:spPr>
      </p:sp>
      <p:sp>
        <p:nvSpPr>
          <p:cNvPr id="20" name="Text 17"/>
          <p:cNvSpPr/>
          <p:nvPr/>
        </p:nvSpPr>
        <p:spPr>
          <a:xfrm>
            <a:off x="5833872" y="3255264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33C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mMTC (62% Recall)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33872" y="3511296"/>
            <a:ext cx="2926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Metaverse idle traffic resembles low-volume URLLC bursts. Sub-second windowing (100 ms) is expected to resolve this.</a:t>
            </a:r>
            <a:endParaRPr lang="en-US" sz="1000" dirty="0"/>
          </a:p>
        </p:txBody>
      </p:sp>
      <p:graphicFrame>
        <p:nvGraphicFramePr>
          <p:cNvPr id="22" name="Table 1"/>
          <p:cNvGraphicFramePr>
            <a:graphicFrameLocks noGrp="1"/>
          </p:cNvGraphicFramePr>
          <p:nvPr/>
        </p:nvGraphicFramePr>
        <p:xfrm>
          <a:off x="320040" y="3657600"/>
          <a:ext cx="5120640" cy="1261872"/>
        </p:xfrm>
        <a:graphic>
          <a:graphicData uri="http://schemas.openxmlformats.org/drawingml/2006/table">
            <a:tbl>
              <a:tblPr/>
              <a:tblGrid>
                <a:gridCol w="1463040"/>
                <a:gridCol w="1234440"/>
                <a:gridCol w="1234440"/>
                <a:gridCol w="118872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eMBB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88.0%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91.0%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89.5%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URLLC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93.6%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84.0%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88.5%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mMTC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65.0%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62.0%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63.5%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Comparative Per-Class Precision Across All Models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11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URLLC precision of 93.6% achieved by the Hybrid QNN exceeds all classical baselines for that class, which is the critical safety-relevant metric in 6G slice assignment: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389888"/>
          <a:ext cx="85039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4736592"/>
            <a:ext cx="8503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4E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finding: When the QNN assigns the URLLC slice, it is correct 93.6% of the time — minimising wasted reserved resources in the network controller.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Receiver Operating Characteristic — Per-Class AUC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12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804672"/>
          <a:ext cx="6035040" cy="4133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583680" y="822960"/>
          <a:ext cx="2286000" cy="2011680"/>
        </p:xfrm>
        <a:graphic>
          <a:graphicData uri="http://schemas.openxmlformats.org/drawingml/2006/table">
            <a:tbl>
              <a:tblPr/>
              <a:tblGrid>
                <a:gridCol w="822960"/>
                <a:gridCol w="731520"/>
                <a:gridCol w="73152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AUC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Rating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eMBB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0.9765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Excellent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URLLC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0.9019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mMTC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0.9173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Macro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0.935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4E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583680" y="2971800"/>
            <a:ext cx="2240280" cy="1920240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83680" y="2971800"/>
            <a:ext cx="91440" cy="1920240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12" name="Text 8"/>
          <p:cNvSpPr/>
          <p:nvPr/>
        </p:nvSpPr>
        <p:spPr>
          <a:xfrm>
            <a:off x="6748272" y="304495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9" name="Text 9"/>
          <p:cNvSpPr/>
          <p:nvPr/>
        </p:nvSpPr>
        <p:spPr>
          <a:xfrm>
            <a:off x="6748272" y="3310128"/>
            <a:ext cx="2011680" cy="1481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macro AUC of 0.935 indicates the model has learned meaningful class boundaries, even in cases where point accuracy is moderate. AUC is more robust than accuracy under class imbalance.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— Summary of Contributions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13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8503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work presents the first hybrid VQC classifier evaluated on real Wireshark 5G traffic data, with the following key outcomes: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1480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16736"/>
            <a:ext cx="502920" cy="1719072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11" name="Text 9"/>
          <p:cNvSpPr/>
          <p:nvPr/>
        </p:nvSpPr>
        <p:spPr>
          <a:xfrm>
            <a:off x="320040" y="1316736"/>
            <a:ext cx="502920" cy="1719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408176"/>
            <a:ext cx="3429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First VQC Classifier on Real 5G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1792224"/>
            <a:ext cx="3429000" cy="1152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QML work for network classification relies on synthetic datasets. This study evaluates a hybrid VQC on real Wireshark captures from a live SK Telecom 5G network.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36008" y="1316736"/>
            <a:ext cx="411480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36008" y="1316736"/>
            <a:ext cx="502920" cy="1719072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16" name="Text 14"/>
          <p:cNvSpPr/>
          <p:nvPr/>
        </p:nvSpPr>
        <p:spPr>
          <a:xfrm>
            <a:off x="4636008" y="1316736"/>
            <a:ext cx="502920" cy="1719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0368" y="1408176"/>
            <a:ext cx="3429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Quantified Performance on Practical Test Set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30368" y="1792224"/>
            <a:ext cx="3429000" cy="1152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 79.0% accuracy, 0.935 macro AUC, and 93.6% URLLC precision on a 225-sample test set drawn from real network traffic.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191256"/>
            <a:ext cx="411480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91256"/>
            <a:ext cx="502920" cy="1719072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21" name="Text 19"/>
          <p:cNvSpPr/>
          <p:nvPr/>
        </p:nvSpPr>
        <p:spPr>
          <a:xfrm>
            <a:off x="320040" y="3191256"/>
            <a:ext cx="502920" cy="1719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282696"/>
            <a:ext cx="3429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PennyLane–PyTorch Compatibility Bridge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3666744"/>
            <a:ext cx="3429000" cy="1152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Resolved a critical incompatibility between PennyLane and PyTorch autograd. The custom bridge is reusable for future QML research projects.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36008" y="3191256"/>
            <a:ext cx="411480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3191256"/>
            <a:ext cx="502920" cy="1719072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26" name="Text 24"/>
          <p:cNvSpPr/>
          <p:nvPr/>
        </p:nvSpPr>
        <p:spPr>
          <a:xfrm>
            <a:off x="4636008" y="3191256"/>
            <a:ext cx="502920" cy="1719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30368" y="3282696"/>
            <a:ext cx="3429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Hardware-Deployable Model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30368" y="3666744"/>
            <a:ext cx="3429000" cy="11521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uses the parameter-shift rule exclusively, making the model directly deployable on IBM Quantum hardware or Amazon Braket with no code modifications.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Work and Directions for Extension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14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160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384048" cy="1234440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10" name="Text 8"/>
          <p:cNvSpPr/>
          <p:nvPr/>
        </p:nvSpPr>
        <p:spPr>
          <a:xfrm>
            <a:off x="320040" y="822960"/>
            <a:ext cx="38404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5528" y="914400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Hardware Deployment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" y="1243584"/>
            <a:ext cx="35661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on IBM Quantum / Amazon Braket by modifying the backend string only. No algorithmic changes are required.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27448" y="2194560"/>
            <a:ext cx="4160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2194560"/>
            <a:ext cx="384048" cy="1234440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15" name="Text 13"/>
          <p:cNvSpPr/>
          <p:nvPr/>
        </p:nvSpPr>
        <p:spPr>
          <a:xfrm>
            <a:off x="4727448" y="2194560"/>
            <a:ext cx="38404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02936" y="2286000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Quantum Federated Learning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02936" y="2615184"/>
            <a:ext cx="35661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 a VQC at each 5G base station. Share parameter updates only — not raw traffic data — ensuring GDPR compliance.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566160"/>
            <a:ext cx="4160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66160"/>
            <a:ext cx="384048" cy="1234440"/>
          </a:xfrm>
          <a:prstGeom prst="rect">
            <a:avLst/>
          </a:prstGeom>
          <a:solidFill>
            <a:srgbClr val="2E4E8C"/>
          </a:solidFill>
        </p:spPr>
      </p:sp>
      <p:sp>
        <p:nvSpPr>
          <p:cNvPr id="20" name="Text 18"/>
          <p:cNvSpPr/>
          <p:nvPr/>
        </p:nvSpPr>
        <p:spPr>
          <a:xfrm>
            <a:off x="320040" y="3566160"/>
            <a:ext cx="38404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" y="3657600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Sub-Second Windowing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" y="3986784"/>
            <a:ext cx="35661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window size from 1 second to 100 ms to improve capture of URLLC burst events and increase mMTC recall.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27448" y="822960"/>
            <a:ext cx="4160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822960"/>
            <a:ext cx="384048" cy="1234440"/>
          </a:xfrm>
          <a:prstGeom prst="rect">
            <a:avLst/>
          </a:prstGeom>
          <a:solidFill>
            <a:srgbClr val="595959"/>
          </a:solidFill>
        </p:spPr>
      </p:sp>
      <p:sp>
        <p:nvSpPr>
          <p:cNvPr id="25" name="Text 23"/>
          <p:cNvSpPr/>
          <p:nvPr/>
        </p:nvSpPr>
        <p:spPr>
          <a:xfrm>
            <a:off x="4727448" y="822960"/>
            <a:ext cx="38404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02936" y="914400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Noise-Aware 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02936" y="1243584"/>
            <a:ext cx="35661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Incorporate depolarising noise channels during training to match real QPU gate error rates (~1% per gate operation).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2194560"/>
            <a:ext cx="4160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194560"/>
            <a:ext cx="384048" cy="1234440"/>
          </a:xfrm>
          <a:prstGeom prst="rect">
            <a:avLst/>
          </a:prstGeom>
          <a:solidFill>
            <a:srgbClr val="595959"/>
          </a:solidFill>
        </p:spPr>
      </p:sp>
      <p:sp>
        <p:nvSpPr>
          <p:cNvPr id="30" name="Text 28"/>
          <p:cNvSpPr/>
          <p:nvPr/>
        </p:nvSpPr>
        <p:spPr>
          <a:xfrm>
            <a:off x="320040" y="2194560"/>
            <a:ext cx="38404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5528" y="2286000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8-Qubit Scaling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" y="2615184"/>
            <a:ext cx="35661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from 6 to 8 qubits (256-dimensional state space) as quantum hardware matures and gate fidelity improves.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27448" y="3566160"/>
            <a:ext cx="4160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27448" y="3566160"/>
            <a:ext cx="384048" cy="1234440"/>
          </a:xfrm>
          <a:prstGeom prst="rect">
            <a:avLst/>
          </a:prstGeom>
          <a:solidFill>
            <a:srgbClr val="595959"/>
          </a:solidFill>
        </p:spPr>
      </p:sp>
      <p:sp>
        <p:nvSpPr>
          <p:cNvPr id="35" name="Text 33"/>
          <p:cNvSpPr/>
          <p:nvPr/>
        </p:nvSpPr>
        <p:spPr>
          <a:xfrm>
            <a:off x="4727448" y="3566160"/>
            <a:ext cx="384048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02936" y="3657600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Multi-Operator Validation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02936" y="3986784"/>
            <a:ext cx="35661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Generalise findings by validating on datasets from network operators in other countries and with different device configurations.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4" name="Text 2"/>
          <p:cNvSpPr/>
          <p:nvPr/>
        </p:nvSpPr>
        <p:spPr>
          <a:xfrm>
            <a:off x="256032" y="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 and Acknowledgements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0"/>
                </a:solidFill>
              </a:rPr>
              <a:t>15 of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1463040" cy="237744"/>
          </a:xfrm>
          <a:prstGeom prst="rect">
            <a:avLst/>
          </a:prstGeom>
          <a:solidFill>
            <a:srgbClr val="D6E4F7"/>
          </a:solidFill>
          <a:ln w="6350">
            <a:solidFill>
              <a:srgbClr val="D9E1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20" dirty="0">
                <a:solidFill>
                  <a:srgbClr val="2E4E8C"/>
                </a:solidFill>
              </a:rPr>
              <a:t>REFERENCES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133856"/>
            <a:ext cx="8503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 Kim, D., Choi, Y.-H., Ko, M. (2023). 5G Traffic Datasets. IEEE DataPort. DOI: 10.21227/ewhk-n061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8503920" cy="0"/>
          </a:xfrm>
          <a:prstGeom prst="line">
            <a:avLst/>
          </a:prstGeom>
          <a:noFill/>
          <a:ln w="5080">
            <a:solidFill>
              <a:srgbClr val="D9E1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91056"/>
            <a:ext cx="8503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[2]  Bergholm, V., et al. (2022). PennyLane: Automatic differentiation of hybrid quantum-classical computations. arXiv:1811.04968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8503920" cy="0"/>
          </a:xfrm>
          <a:prstGeom prst="line">
            <a:avLst/>
          </a:prstGeom>
          <a:noFill/>
          <a:ln w="5080">
            <a:solidFill>
              <a:srgbClr val="D9E1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48256"/>
            <a:ext cx="8503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[3]  ITU-R M.2083-0 (2015). IMT Vision — Framework and overall objectives of the future development of IMT for 2020 and beyond.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8503920" cy="0"/>
          </a:xfrm>
          <a:prstGeom prst="line">
            <a:avLst/>
          </a:prstGeom>
          <a:noFill/>
          <a:ln w="5080">
            <a:solidFill>
              <a:srgbClr val="D9E1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05456"/>
            <a:ext cx="8503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[4]  Biamonte, J., et al. (2017). Quantum machine learning. Nature, 549, 195–202.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8503920" cy="0"/>
          </a:xfrm>
          <a:prstGeom prst="line">
            <a:avLst/>
          </a:prstGeom>
          <a:noFill/>
          <a:ln w="5080">
            <a:solidFill>
              <a:srgbClr val="D9E1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62656"/>
            <a:ext cx="8503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[5]  Mitarai, K., Negoro, M., Kitagawa, M., Fujii, K. (2018). Quantum circuit learning. Physical Review A, 98(3), 032309.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114800"/>
            <a:ext cx="8503920" cy="82296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18" name="Shape 16"/>
          <p:cNvSpPr/>
          <p:nvPr/>
        </p:nvSpPr>
        <p:spPr>
          <a:xfrm>
            <a:off x="320040" y="4114800"/>
            <a:ext cx="164592" cy="822960"/>
          </a:xfrm>
          <a:prstGeom prst="rect">
            <a:avLst/>
          </a:prstGeom>
          <a:solidFill>
            <a:srgbClr val="4472C4"/>
          </a:solidFill>
        </p:spPr>
      </p:sp>
      <p:sp>
        <p:nvSpPr>
          <p:cNvPr id="19" name="Text 17"/>
          <p:cNvSpPr/>
          <p:nvPr/>
        </p:nvSpPr>
        <p:spPr>
          <a:xfrm>
            <a:off x="1585595" y="4114800"/>
            <a:ext cx="714692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 for your attention.  Source code, dataset, and all figures are available.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D9E1EB"/>
          </a:solidFill>
        </p:spPr>
      </p:sp>
      <p:sp>
        <p:nvSpPr>
          <p:cNvPr id="21" name="Text 19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496A9"/>
                </a:solidFill>
              </a:rPr>
              <a:t>QML-Based Traffic Management in 6G Networks  |  School of Computer Engineering, KIIT  |  April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11028</Words>
  <Application>WPS Presentation</Application>
  <PresentationFormat>On-screen Show (16:9)</PresentationFormat>
  <Paragraphs>586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QML-Based Traffic Management in 6G Networks</dc:title>
  <dc:creator>PptxGenJS</dc:creator>
  <dc:subject>PptxGenJS Presentation</dc:subject>
  <cp:lastModifiedBy>Subhajit Chakraborty</cp:lastModifiedBy>
  <cp:revision>3</cp:revision>
  <dcterms:created xsi:type="dcterms:W3CDTF">2026-03-31T08:54:00Z</dcterms:created>
  <dcterms:modified xsi:type="dcterms:W3CDTF">2026-03-31T09:08:44Z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B948E43CE3A2407E807F59A0F20B5C8B_13</vt:lpwstr>
  </property>
</Properties>
</file>